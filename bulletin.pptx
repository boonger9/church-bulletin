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</p:sldIdLst>
  <p:sldSz cx="9906000" cy="6858000" type="A4"/>
  <p:notesSz cx="6889750" cy="100218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7E2"/>
    <a:srgbClr val="578B7F"/>
    <a:srgbClr val="65B7A9"/>
    <a:srgbClr val="EBBBBB"/>
    <a:srgbClr val="C496BD"/>
    <a:srgbClr val="AD6FA4"/>
    <a:srgbClr val="E6D4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2076" y="0"/>
            <a:ext cx="2986088" cy="501650"/>
          </a:xfrm>
          <a:prstGeom prst="rect">
            <a:avLst/>
          </a:prstGeom>
        </p:spPr>
        <p:txBody>
          <a:bodyPr vert="horz" lIns="91421" tIns="45711" rIns="91421" bIns="45711" rtlCol="0"/>
          <a:lstStyle>
            <a:lvl1pPr algn="r">
              <a:defRPr sz="1200"/>
            </a:lvl1pPr>
          </a:lstStyle>
          <a:p>
            <a:fld id="{CC74B44A-935D-4AC2-B27F-9292FE252EDB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1" tIns="45711" rIns="91421" bIns="4571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976" y="4822827"/>
            <a:ext cx="5511800" cy="3946525"/>
          </a:xfrm>
          <a:prstGeom prst="rect">
            <a:avLst/>
          </a:prstGeom>
        </p:spPr>
        <p:txBody>
          <a:bodyPr vert="horz" lIns="91421" tIns="45711" rIns="91421" bIns="45711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2076" y="9520238"/>
            <a:ext cx="2986088" cy="501650"/>
          </a:xfrm>
          <a:prstGeom prst="rect">
            <a:avLst/>
          </a:prstGeom>
        </p:spPr>
        <p:txBody>
          <a:bodyPr vert="horz" lIns="91421" tIns="45711" rIns="91421" bIns="45711" rtlCol="0" anchor="b"/>
          <a:lstStyle>
            <a:lvl1pPr algn="r">
              <a:defRPr sz="1200"/>
            </a:lvl1pPr>
          </a:lstStyle>
          <a:p>
            <a:fld id="{C401DD46-5D59-4F68-9AA6-8115D4233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444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78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213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73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4641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5924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92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21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795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8964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4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23F16E-E290-4F30-9B65-75ED1F1162CC}" type="datetimeFigureOut">
              <a:rPr lang="ko-KR" altLang="en-US" smtClean="0"/>
              <a:t>2026-08-01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02314-1D2F-4794-A1F0-D54FE547AF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6985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9170110" y="131093"/>
            <a:ext cx="74639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578B7F"/>
                </a:solidFill>
                <a:effectLst/>
                <a:uLnTx/>
                <a:uFillTx/>
                <a:latin typeface="메이플스토리" panose="02000300000000000000" pitchFamily="2" charset="-127"/>
                <a:ea typeface="메이플스토리" panose="02000300000000000000" pitchFamily="2" charset="-127"/>
              </a:rPr>
              <a:t>바른신학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78B7F"/>
              </a:solidFill>
              <a:effectLst/>
              <a:uLnTx/>
              <a:uFillTx/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578B7F"/>
                </a:solidFill>
                <a:effectLst/>
                <a:uLnTx/>
                <a:uFillTx/>
                <a:latin typeface="메이플스토리" panose="02000300000000000000" pitchFamily="2" charset="-127"/>
                <a:ea typeface="메이플스토리" panose="02000300000000000000" pitchFamily="2" charset="-127"/>
              </a:rPr>
              <a:t>바른교회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578B7F"/>
              </a:solidFill>
              <a:effectLst/>
              <a:uLnTx/>
              <a:uFillTx/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578B7F"/>
                </a:solidFill>
                <a:effectLst/>
                <a:uLnTx/>
                <a:uFillTx/>
                <a:latin typeface="메이플스토리" panose="02000300000000000000" pitchFamily="2" charset="-127"/>
                <a:ea typeface="메이플스토리" panose="02000300000000000000" pitchFamily="2" charset="-127"/>
              </a:rPr>
              <a:t>바른생활</a:t>
            </a: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578B7F"/>
              </a:solidFill>
              <a:effectLst/>
              <a:uLnTx/>
              <a:uFillTx/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81907" y="5640287"/>
            <a:ext cx="48240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담임목사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ko-KR" altLang="en-US" sz="1200" dirty="0" err="1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이상후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/  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원로 목사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김용원</a:t>
            </a:r>
            <a:endParaRPr lang="en-US" altLang="ko-KR" sz="1200" dirty="0">
              <a:solidFill>
                <a:srgbClr val="578B7F"/>
              </a:solidFill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  <a:p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주소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대구 동구 </a:t>
            </a:r>
            <a:r>
              <a:rPr lang="ko-KR" altLang="en-US" sz="1200" dirty="0" err="1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메디밸리로</a:t>
            </a:r>
            <a:r>
              <a:rPr lang="ko-KR" altLang="en-US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en-US" altLang="ko-KR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5-2 (3</a:t>
            </a:r>
            <a:r>
              <a:rPr lang="ko-KR" altLang="en-US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층</a:t>
            </a:r>
            <a:r>
              <a:rPr lang="en-US" altLang="ko-KR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</a:t>
            </a:r>
          </a:p>
          <a:p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Tel : </a:t>
            </a:r>
            <a:r>
              <a:rPr lang="en-US" altLang="ko-KR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053.964-3230</a:t>
            </a:r>
          </a:p>
          <a:p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       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유튜브 예배 안내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200" dirty="0" err="1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대구우리교회</a:t>
            </a:r>
            <a:r>
              <a:rPr lang="en-US" altLang="ko-KR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_</a:t>
            </a:r>
            <a:r>
              <a:rPr lang="ko-KR" altLang="en-US" sz="1200" dirty="0" err="1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대한예수교장로회합신</a:t>
            </a:r>
            <a:endParaRPr lang="en-US" altLang="ko-KR" sz="1200" dirty="0">
              <a:solidFill>
                <a:srgbClr val="578B7F"/>
              </a:solidFill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  <a:p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계좌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(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예금주 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대구우리교회</a:t>
            </a:r>
            <a:r>
              <a:rPr lang="en-US" altLang="ko-KR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   </a:t>
            </a:r>
            <a:r>
              <a:rPr lang="ko-KR" altLang="en-US" sz="1200" b="1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대구은행 </a:t>
            </a:r>
            <a:r>
              <a:rPr lang="en-US" altLang="ko-KR" sz="12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504-10-228501-4</a:t>
            </a:r>
            <a:endParaRPr lang="ko-KR" altLang="en-US" sz="1200" dirty="0">
              <a:solidFill>
                <a:srgbClr val="578B7F"/>
              </a:solidFill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969" y="6166125"/>
            <a:ext cx="554884" cy="345277"/>
          </a:xfrm>
          <a:prstGeom prst="rect">
            <a:avLst/>
          </a:prstGeom>
        </p:spPr>
      </p:pic>
      <p:sp>
        <p:nvSpPr>
          <p:cNvPr id="55" name="모서리가 둥근 직사각형 54"/>
          <p:cNvSpPr/>
          <p:nvPr/>
        </p:nvSpPr>
        <p:spPr>
          <a:xfrm>
            <a:off x="126695" y="104775"/>
            <a:ext cx="4674229" cy="250780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모서리가 둥근 직사각형 56"/>
          <p:cNvSpPr/>
          <p:nvPr/>
        </p:nvSpPr>
        <p:spPr>
          <a:xfrm>
            <a:off x="133251" y="4884610"/>
            <a:ext cx="2366327" cy="255795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171118" y="54592"/>
            <a:ext cx="3298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우리 교회소식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690" y="4814754"/>
            <a:ext cx="1626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우리의 모임 안내</a:t>
            </a:r>
          </a:p>
        </p:txBody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39" y="5181438"/>
            <a:ext cx="2622995" cy="1616493"/>
          </a:xfrm>
          <a:prstGeom prst="rect">
            <a:avLst/>
          </a:prstGeom>
          <a:solidFill>
            <a:srgbClr val="65B7A9"/>
          </a:solidFill>
        </p:spPr>
      </p:pic>
      <p:sp>
        <p:nvSpPr>
          <p:cNvPr id="61" name="TextBox 60"/>
          <p:cNvSpPr txBox="1"/>
          <p:nvPr/>
        </p:nvSpPr>
        <p:spPr>
          <a:xfrm>
            <a:off x="84967" y="5269051"/>
            <a:ext cx="13027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주일낮예배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주일오후예배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교회학교</a:t>
            </a:r>
            <a:br>
              <a:rPr lang="en-US" altLang="ko-KR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청년부 모임</a:t>
            </a:r>
            <a:endParaRPr lang="en-US" altLang="ko-KR" sz="10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수요기도회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토요기도회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새벽기도회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SF </a:t>
            </a:r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영어도서관</a:t>
            </a:r>
            <a:endParaRPr lang="en-US" altLang="ko-KR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우리마을 작은 도서관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95444" y="5270616"/>
            <a:ext cx="170617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주일 오전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11:00 </a:t>
            </a: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주일 오후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01:30</a:t>
            </a: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주일 오전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10:20 </a:t>
            </a: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주일 오후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12:30 </a:t>
            </a:r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본당</a:t>
            </a:r>
            <a:endParaRPr lang="en-US" altLang="ko-KR" sz="1000" dirty="0">
              <a:latin typeface="옥션고딕 M" panose="02000000000000000000" pitchFamily="2" charset="-127"/>
              <a:ea typeface="옥션고딕 M" panose="02000000000000000000" pitchFamily="2" charset="-127"/>
            </a:endParaRP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수요일 저녁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7:30</a:t>
            </a: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토요일 저녁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7:00</a:t>
            </a:r>
          </a:p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월요일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~</a:t>
            </a:r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금요일 새벽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5:30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1221" y="6354121"/>
            <a:ext cx="17330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화요일 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2:00 </a:t>
            </a:r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수요일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/ 1:20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99892" y="6500815"/>
            <a:ext cx="14728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 토 오전</a:t>
            </a:r>
            <a:r>
              <a:rPr lang="en-US" altLang="ko-KR" sz="1000" dirty="0">
                <a:latin typeface="옥션고딕 M" panose="02000000000000000000" pitchFamily="2" charset="-127"/>
                <a:ea typeface="옥션고딕 M" panose="02000000000000000000" pitchFamily="2" charset="-127"/>
              </a:rPr>
              <a:t>11:00~12:30</a:t>
            </a:r>
            <a:endParaRPr lang="ko-KR" altLang="en-US" sz="1000" dirty="0">
              <a:latin typeface="옥션고딕 M" panose="02000000000000000000" pitchFamily="2" charset="-127"/>
              <a:ea typeface="옥션고딕 M" panose="02000000000000000000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2522344" y="4888148"/>
            <a:ext cx="2246387" cy="255795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2474729" y="4814754"/>
            <a:ext cx="1745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우리에게 오시는 길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99032" y="436037"/>
            <a:ext cx="4674230" cy="755640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7367" y="393312"/>
            <a:ext cx="4739120" cy="8021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400"/>
              </a:lnSpc>
            </a:pP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환영합니다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.(Welcome) ‘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대구우리교회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’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는 대한예수교 장로회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합신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경북노회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소속으로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2002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년 설립된 교회로서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같은 교단 교회로는 대표적으로 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남서울은혜교회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10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홍정길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목사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),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남포교회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박영선 목사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)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가 있습니다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함께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예배하고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(Worship)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함께 말씀을 나누고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(Word) 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함께 섬기며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(work),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함께 복음을 전하는 주님의 제자가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(Witness)</a:t>
            </a:r>
            <a:r>
              <a:rPr lang="ko-KR" altLang="en-US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되는 교회입니다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0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8130" y="1244999"/>
            <a:ext cx="4720601" cy="3577972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855" y="5040860"/>
            <a:ext cx="2524025" cy="174999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08342" y="1286578"/>
            <a:ext cx="4960474" cy="3589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fontAlgn="base">
              <a:lnSpc>
                <a:spcPct val="120000"/>
              </a:lnSpc>
              <a:buFont typeface="+mj-lt"/>
              <a:buAutoNum type="arabicPeriod"/>
            </a:pP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ko-KR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새로 오신 성도 여러분들을 환영하고 축복합니다</a:t>
            </a: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 ​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모임안내</a:t>
            </a:r>
            <a:r>
              <a:rPr lang="en-US" altLang="ko-KR" sz="1000" b="1" dirty="0">
                <a:solidFill>
                  <a:prstClr val="black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</a:t>
            </a:r>
            <a:br>
              <a:rPr lang="en-US" altLang="ko-KR" sz="1000" b="1" dirty="0">
                <a:solidFill>
                  <a:prstClr val="black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prstClr val="black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</a:t>
            </a:r>
            <a:r>
              <a:rPr lang="en-US" altLang="ko-KR" sz="1000" dirty="0">
                <a:solidFill>
                  <a:prstClr val="black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1)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매월 첫 주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성찬식</a:t>
            </a:r>
            <a:r>
              <a:rPr lang="en-US" altLang="ko-KR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입니다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 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매월 넷째 주에는 </a:t>
            </a:r>
            <a:r>
              <a:rPr lang="ko-KR" altLang="en-US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온 세대 찬양예배 </a:t>
            </a:r>
            <a:br>
              <a:rPr lang="en-US" altLang="ko-KR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2) 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매주 수요일에는 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‘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마가복음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’ 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성경공부가 진행됩니다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</a:t>
            </a:r>
            <a:b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3) 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오후 예배 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‘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하이델베르크 요리문답</a:t>
            </a:r>
            <a:r>
              <a:rPr lang="en-US" altLang="ko-KR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’</a:t>
            </a:r>
            <a:r>
              <a:rPr lang="ko-KR" altLang="en-US" sz="1000" dirty="0"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endParaRPr lang="en-US" altLang="ko-KR" sz="1000" dirty="0"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3. </a:t>
            </a:r>
            <a:r>
              <a:rPr lang="ko-KR" altLang="en-US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기타 소식 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1)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전교인 말씀 생활화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챌린지’에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동참하세요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!  /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주일 말씀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QT​</a:t>
            </a:r>
          </a:p>
          <a:p>
            <a:pPr fontAlgn="base">
              <a:lnSpc>
                <a:spcPct val="12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2)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교회 </a:t>
            </a:r>
            <a:r>
              <a:rPr lang="ko-KR" altLang="en-US" sz="1000" dirty="0">
                <a:solidFill>
                  <a:srgbClr val="FF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카카오톡 채널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많이 활용바랍니다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 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    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주보 앞면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QR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코드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모든 공지와 소식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주보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설교노트 등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3)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교회 대출 연장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(3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년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접수 완료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4. </a:t>
            </a:r>
            <a:r>
              <a:rPr lang="ko-KR" altLang="en-US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교우 소식 </a:t>
            </a: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b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1)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기도해주세요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전숙이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권사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박노완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손경아 집사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),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여윤석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정성순 권사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), 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        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사공영광 집사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김민기 학생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.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이창림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성도 ​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이미자 권사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김도율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어린이</a:t>
            </a:r>
            <a:endParaRPr lang="en-US" altLang="ko-KR" sz="1000" dirty="0">
              <a:solidFill>
                <a:srgbClr val="000000"/>
              </a:solidFill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  <a:p>
            <a:pPr fontAlgn="base">
              <a:lnSpc>
                <a:spcPct val="120000"/>
              </a:lnSpc>
            </a:pP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5.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노회소식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8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3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일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)~5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일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수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창녕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온누리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청소년수련원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–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중고등부 수련회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                  8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10(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)~12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일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수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청도 </a:t>
            </a:r>
            <a:r>
              <a:rPr lang="ko-KR" altLang="en-US" sz="1000" dirty="0" err="1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신화랑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풍류마을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-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주일학교 수련회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6 </a:t>
            </a:r>
            <a:r>
              <a:rPr lang="ko-KR" altLang="en-US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담임목사 동정</a:t>
            </a:r>
            <a:b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r>
              <a:rPr lang="en-US" altLang="ko-KR" sz="1000" b="1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  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외부 사역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 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화양중앙교회 주일 낮 예배 설교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: 8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월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30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일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주일 오전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)</a:t>
            </a:r>
            <a:b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</a:br>
            <a:br>
              <a:rPr lang="en-US" altLang="ko-KR" sz="1000" dirty="0">
                <a:solidFill>
                  <a:srgbClr val="00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1000" dirty="0">
                <a:solidFill>
                  <a:srgbClr val="00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                                   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</a:rPr>
              <a:t>* </a:t>
            </a:r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메이플스토리 OTF" panose="02000300000000000000" pitchFamily="50" charset="-127"/>
              </a:rPr>
              <a:t>차량 운행 관련 문의 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</a:rPr>
              <a:t>: </a:t>
            </a:r>
            <a:r>
              <a:rPr lang="ko-KR" altLang="ko-KR" sz="1000" dirty="0">
                <a:solidFill>
                  <a:srgbClr val="000000"/>
                </a:solidFill>
                <a:latin typeface="맑은 고딕" panose="020B0503020000020004" pitchFamily="50" charset="-127"/>
                <a:ea typeface="메이플스토리 OTF" panose="02000300000000000000" pitchFamily="50" charset="-127"/>
              </a:rPr>
              <a:t>김성진 집사 </a:t>
            </a:r>
            <a:r>
              <a:rPr lang="en-US" altLang="ko-KR" sz="1000" dirty="0">
                <a:solidFill>
                  <a:srgbClr val="000000"/>
                </a:solidFill>
                <a:latin typeface="메이플스토리 OTF" panose="02000300000000000000" pitchFamily="50" charset="-127"/>
              </a:rPr>
              <a:t>010-2958-5649</a:t>
            </a:r>
            <a:endParaRPr lang="en-US" altLang="ko-KR" sz="1000" dirty="0">
              <a:solidFill>
                <a:srgbClr val="000000"/>
              </a:solidFill>
              <a:latin typeface="메이플스토리 OTF" panose="02000300000000000000" pitchFamily="50" charset="-127"/>
              <a:ea typeface="메이플스토리 OTF" panose="02000300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924571" y="280648"/>
            <a:ext cx="2178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제 </a:t>
            </a:r>
            <a:r>
              <a:rPr lang="en-US" altLang="ko-KR" sz="14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1276</a:t>
            </a:r>
            <a:r>
              <a:rPr lang="ko-KR" altLang="en-US" sz="14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호 </a:t>
            </a:r>
            <a:r>
              <a:rPr lang="en-US" altLang="ko-KR" sz="1400" dirty="0">
                <a:solidFill>
                  <a:srgbClr val="578B7F"/>
                </a:solidFill>
                <a:latin typeface="메이플스토리 OTF" panose="02000300000000000000" pitchFamily="50" charset="-127"/>
                <a:ea typeface="메이플스토리 OTF" panose="02000300000000000000" pitchFamily="50" charset="-127"/>
              </a:rPr>
              <a:t>_ </a:t>
            </a:r>
            <a:r>
              <a:rPr lang="en-US" altLang="ko-KR" sz="1400" b="1" dirty="0">
                <a:solidFill>
                  <a:srgbClr val="578B7F"/>
                </a:solidFill>
                <a:latin typeface="뫼비우스 Regular" panose="02000700060000000000" pitchFamily="2" charset="-127"/>
                <a:ea typeface="뫼비우스 Regular" panose="02000700060000000000" pitchFamily="2" charset="-127"/>
              </a:rPr>
              <a:t>2027. 08. 02</a:t>
            </a:r>
            <a:endParaRPr lang="ko-KR" altLang="en-US" sz="1400" b="1" dirty="0">
              <a:solidFill>
                <a:srgbClr val="578B7F"/>
              </a:solidFill>
              <a:latin typeface="뫼비우스 Regular" panose="02000700060000000000" pitchFamily="2" charset="-127"/>
              <a:ea typeface="뫼비우스 Regular" panose="02000700060000000000" pitchFamily="2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66C598-22E0-3E3E-25B1-AD01A16313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420" y="138594"/>
            <a:ext cx="441307" cy="2469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03B5CE9-14BB-0FB0-1858-F5FAC6580D0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528" y="237938"/>
            <a:ext cx="1734886" cy="550493"/>
          </a:xfrm>
          <a:prstGeom prst="rect">
            <a:avLst/>
          </a:prstGeom>
        </p:spPr>
      </p:pic>
      <p:sp>
        <p:nvSpPr>
          <p:cNvPr id="37" name="모서리가 둥근 직사각형 20">
            <a:extLst>
              <a:ext uri="{FF2B5EF4-FFF2-40B4-BE49-F238E27FC236}">
                <a16:creationId xmlns:a16="http://schemas.microsoft.com/office/drawing/2014/main" id="{7B23204D-CABD-B807-F4F0-276FC496D1FF}"/>
              </a:ext>
            </a:extLst>
          </p:cNvPr>
          <p:cNvSpPr/>
          <p:nvPr/>
        </p:nvSpPr>
        <p:spPr>
          <a:xfrm>
            <a:off x="5081907" y="722327"/>
            <a:ext cx="2745068" cy="277563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B406B7-8FB2-3D22-864A-A3ED045B7826}"/>
              </a:ext>
            </a:extLst>
          </p:cNvPr>
          <p:cNvSpPr txBox="1"/>
          <p:nvPr/>
        </p:nvSpPr>
        <p:spPr>
          <a:xfrm>
            <a:off x="5293866" y="687008"/>
            <a:ext cx="208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주일 낮 예배</a:t>
            </a:r>
            <a:endParaRPr lang="ko-KR" altLang="en-US" sz="1600" dirty="0">
              <a:solidFill>
                <a:schemeClr val="bg1"/>
              </a:solidFill>
              <a:latin typeface="tvN 즐거운이야기 Bold" panose="02020603020101020101" pitchFamily="18" charset="-127"/>
              <a:ea typeface="tvN 즐거운이야기 Bold" panose="02020603020101020101" pitchFamily="18" charset="-127"/>
            </a:endParaRPr>
          </a:p>
        </p:txBody>
      </p:sp>
      <p:sp>
        <p:nvSpPr>
          <p:cNvPr id="42" name="모서리가 둥근 직사각형 127">
            <a:extLst>
              <a:ext uri="{FF2B5EF4-FFF2-40B4-BE49-F238E27FC236}">
                <a16:creationId xmlns:a16="http://schemas.microsoft.com/office/drawing/2014/main" id="{5BED913F-398E-CC7B-4655-408E9A39B9BC}"/>
              </a:ext>
            </a:extLst>
          </p:cNvPr>
          <p:cNvSpPr/>
          <p:nvPr/>
        </p:nvSpPr>
        <p:spPr>
          <a:xfrm>
            <a:off x="5126674" y="1065873"/>
            <a:ext cx="2693007" cy="3974987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17E97F-0CD1-7E0E-6EE1-CC0B3ADB7F7A}"/>
              </a:ext>
            </a:extLst>
          </p:cNvPr>
          <p:cNvSpPr txBox="1"/>
          <p:nvPr/>
        </p:nvSpPr>
        <p:spPr>
          <a:xfrm>
            <a:off x="5268632" y="1086253"/>
            <a:ext cx="1799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r>
              <a:rPr lang="ko-KR" altLang="en-US" sz="11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표는 일어서서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473961A-2D41-0A70-4C7B-AF86E9C39CE2}"/>
              </a:ext>
            </a:extLst>
          </p:cNvPr>
          <p:cNvSpPr txBox="1"/>
          <p:nvPr/>
        </p:nvSpPr>
        <p:spPr>
          <a:xfrm>
            <a:off x="6150426" y="1085917"/>
            <a:ext cx="16833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설교 </a:t>
            </a:r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이상후 </a:t>
            </a:r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목사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110914-233D-711D-134A-4AA4EBE7206F}"/>
              </a:ext>
            </a:extLst>
          </p:cNvPr>
          <p:cNvSpPr txBox="1"/>
          <p:nvPr/>
        </p:nvSpPr>
        <p:spPr>
          <a:xfrm>
            <a:off x="6160251" y="1380931"/>
            <a:ext cx="1786076" cy="358848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다같이 </a:t>
            </a: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(257, 259)</a:t>
            </a:r>
          </a:p>
          <a:p>
            <a:pPr>
              <a:lnSpc>
                <a:spcPts val="2300"/>
              </a:lnSpc>
            </a:pP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4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장 </a:t>
            </a:r>
            <a:r>
              <a:rPr lang="en-US" altLang="ko-KR" sz="10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(1</a:t>
            </a:r>
            <a:r>
              <a:rPr lang="ko-KR" altLang="en-US" sz="10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절만</a:t>
            </a:r>
            <a:r>
              <a:rPr lang="en-US" altLang="ko-KR" sz="10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)</a:t>
            </a:r>
          </a:p>
          <a:p>
            <a:pPr>
              <a:lnSpc>
                <a:spcPts val="2300"/>
              </a:lnSpc>
            </a:pP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19. 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시편</a:t>
            </a: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 32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편</a:t>
            </a:r>
            <a:b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사도신경</a:t>
            </a:r>
            <a:endParaRPr lang="en-US" altLang="ko-KR" sz="14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ts val="2300"/>
              </a:lnSpc>
            </a:pP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258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장</a:t>
            </a:r>
            <a:endParaRPr lang="en-US" altLang="ko-KR" sz="14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400" dirty="0">
                <a:latin typeface="서울남산 장체B"/>
                <a:ea typeface="서울남산 장체B"/>
              </a:rPr>
              <a:t>이미자 </a:t>
            </a:r>
            <a:r>
              <a:rPr lang="ko-KR" altLang="en-US" sz="1200" dirty="0">
                <a:latin typeface="서울남산 장체B"/>
                <a:ea typeface="서울남산 장체B"/>
              </a:rPr>
              <a:t>권사</a:t>
            </a:r>
            <a:br>
              <a:rPr lang="en-US" altLang="ko-KR" sz="1200" dirty="0">
                <a:latin typeface="서울남산 장체B"/>
                <a:ea typeface="서울남산 장체B"/>
              </a:rPr>
            </a:br>
            <a:r>
              <a:rPr lang="ko-KR" altLang="en-US" sz="900" dirty="0">
                <a:latin typeface="서울남산 장체B"/>
                <a:ea typeface="서울남산 장체B"/>
              </a:rPr>
              <a:t>겔</a:t>
            </a:r>
            <a:r>
              <a:rPr lang="en-US" altLang="ko-KR" sz="900" dirty="0">
                <a:latin typeface="서울남산 장체B"/>
                <a:ea typeface="서울남산 장체B"/>
              </a:rPr>
              <a:t>33:11 </a:t>
            </a:r>
            <a:r>
              <a:rPr lang="ko-KR" altLang="en-US" sz="900" dirty="0">
                <a:latin typeface="서울남산 장체B"/>
                <a:ea typeface="서울남산 장체B"/>
              </a:rPr>
              <a:t>네가 사는 것이 내 기쁨이다</a:t>
            </a:r>
            <a:br>
              <a:rPr lang="en-US" altLang="ko-KR" sz="1400" dirty="0">
                <a:latin typeface="서울남산 장체B"/>
                <a:ea typeface="서울남산 장체B"/>
              </a:rPr>
            </a:b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268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장</a:t>
            </a:r>
            <a:b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다같이 </a:t>
            </a:r>
            <a:b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사회자</a:t>
            </a:r>
            <a:b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54</a:t>
            </a: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장</a:t>
            </a:r>
            <a:br>
              <a:rPr lang="en-US" altLang="ko-KR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</a:br>
            <a:r>
              <a:rPr lang="ko-KR" altLang="en-US" sz="1400" dirty="0">
                <a:latin typeface="서울남산 장체B" panose="02020603020101020101" pitchFamily="18" charset="-127"/>
                <a:ea typeface="서울남산 장체B" panose="02020603020101020101" pitchFamily="18" charset="-127"/>
              </a:rPr>
              <a:t>이상후 목사</a:t>
            </a:r>
            <a:endParaRPr lang="en-US" altLang="ko-KR" sz="1200" dirty="0">
              <a:latin typeface="서울남산 장체B" panose="02020603020101020101" pitchFamily="18" charset="-127"/>
              <a:ea typeface="서울남산 장체B" panose="02020603020101020101" pitchFamily="18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1BC501-D823-5E22-A158-21DB3EFE4046}"/>
              </a:ext>
            </a:extLst>
          </p:cNvPr>
          <p:cNvSpPr txBox="1"/>
          <p:nvPr/>
        </p:nvSpPr>
        <p:spPr>
          <a:xfrm>
            <a:off x="5152711" y="1437008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CC0523-2D47-7DB3-AF39-4B91623B8A68}"/>
              </a:ext>
            </a:extLst>
          </p:cNvPr>
          <p:cNvSpPr txBox="1"/>
          <p:nvPr/>
        </p:nvSpPr>
        <p:spPr>
          <a:xfrm>
            <a:off x="5152711" y="1736667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endParaRPr lang="ko-KR" altLang="en-US" sz="1200" dirty="0">
              <a:latin typeface="인터파크고딕 L" panose="02000000000000000000" pitchFamily="2" charset="-127"/>
              <a:ea typeface="인터파크고딕 L" panose="02000000000000000000" pitchFamily="2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4FE806C-5518-44E1-ABD2-8EB46C76336B}"/>
              </a:ext>
            </a:extLst>
          </p:cNvPr>
          <p:cNvSpPr txBox="1"/>
          <p:nvPr/>
        </p:nvSpPr>
        <p:spPr>
          <a:xfrm>
            <a:off x="5152711" y="2039552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endParaRPr lang="ko-KR" altLang="en-US" sz="1200" dirty="0">
              <a:latin typeface="인터파크고딕 L" panose="02000000000000000000" pitchFamily="2" charset="-127"/>
              <a:ea typeface="인터파크고딕 L" panose="02000000000000000000" pitchFamily="2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259425-4F4E-89DB-8FCA-5AA26E8F6F65}"/>
              </a:ext>
            </a:extLst>
          </p:cNvPr>
          <p:cNvSpPr txBox="1"/>
          <p:nvPr/>
        </p:nvSpPr>
        <p:spPr>
          <a:xfrm>
            <a:off x="5152711" y="2292979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endParaRPr lang="ko-KR" altLang="en-US" sz="1200" dirty="0">
              <a:latin typeface="인터파크고딕 L" panose="02000000000000000000" pitchFamily="2" charset="-127"/>
              <a:ea typeface="인터파크고딕 L" panose="02000000000000000000" pitchFamily="2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A5BC7A-4531-8762-176B-59BD0777C5CF}"/>
              </a:ext>
            </a:extLst>
          </p:cNvPr>
          <p:cNvSpPr txBox="1"/>
          <p:nvPr/>
        </p:nvSpPr>
        <p:spPr>
          <a:xfrm>
            <a:off x="5162536" y="4675712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endParaRPr lang="ko-KR" altLang="en-US" sz="1200" dirty="0">
              <a:latin typeface="인터파크고딕 L" panose="02000000000000000000" pitchFamily="2" charset="-127"/>
              <a:ea typeface="인터파크고딕 L" panose="02000000000000000000" pitchFamily="2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9D72A9-5A0F-0CB7-F136-50F7BEBD3D54}"/>
              </a:ext>
            </a:extLst>
          </p:cNvPr>
          <p:cNvSpPr txBox="1"/>
          <p:nvPr/>
        </p:nvSpPr>
        <p:spPr>
          <a:xfrm>
            <a:off x="5162536" y="4386404"/>
            <a:ext cx="2318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인터파크고딕 L" panose="02000000000000000000" pitchFamily="2" charset="-127"/>
                <a:ea typeface="인터파크고딕 L" panose="02000000000000000000" pitchFamily="2" charset="-127"/>
              </a:rPr>
              <a:t>*</a:t>
            </a:r>
            <a:endParaRPr lang="ko-KR" altLang="en-US" sz="1200" dirty="0">
              <a:latin typeface="인터파크고딕 L" panose="02000000000000000000" pitchFamily="2" charset="-127"/>
              <a:ea typeface="인터파크고딕 L" panose="02000000000000000000" pitchFamily="2" charset="-127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3E26328B-5F44-E67F-2B4C-EAD5B754C29F}"/>
              </a:ext>
            </a:extLst>
          </p:cNvPr>
          <p:cNvCxnSpPr/>
          <p:nvPr/>
        </p:nvCxnSpPr>
        <p:spPr>
          <a:xfrm flipV="1">
            <a:off x="5286805" y="1688410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680F802B-2AF9-1B2B-410E-D2F1C6DC79F7}"/>
              </a:ext>
            </a:extLst>
          </p:cNvPr>
          <p:cNvCxnSpPr/>
          <p:nvPr/>
        </p:nvCxnSpPr>
        <p:spPr>
          <a:xfrm flipV="1">
            <a:off x="5286805" y="1984803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16F37725-F8BD-4321-5E04-31EE29EFBAD4}"/>
              </a:ext>
            </a:extLst>
          </p:cNvPr>
          <p:cNvCxnSpPr/>
          <p:nvPr/>
        </p:nvCxnSpPr>
        <p:spPr>
          <a:xfrm flipV="1">
            <a:off x="5286805" y="2289969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4BBEEEF-C545-0E5F-48DC-26BAA801CF5E}"/>
              </a:ext>
            </a:extLst>
          </p:cNvPr>
          <p:cNvCxnSpPr/>
          <p:nvPr/>
        </p:nvCxnSpPr>
        <p:spPr>
          <a:xfrm flipV="1">
            <a:off x="5286804" y="2560197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6EE9AB94-9164-3C2B-BB09-FFCAF8F1BCE5}"/>
              </a:ext>
            </a:extLst>
          </p:cNvPr>
          <p:cNvCxnSpPr/>
          <p:nvPr/>
        </p:nvCxnSpPr>
        <p:spPr>
          <a:xfrm flipV="1">
            <a:off x="5286804" y="2838979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C4E5460-E96F-631A-356C-C29118E27DB2}"/>
              </a:ext>
            </a:extLst>
          </p:cNvPr>
          <p:cNvCxnSpPr/>
          <p:nvPr/>
        </p:nvCxnSpPr>
        <p:spPr>
          <a:xfrm flipV="1">
            <a:off x="5293869" y="3155952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B462FD29-425C-48F1-AAA4-157349FC78DD}"/>
              </a:ext>
            </a:extLst>
          </p:cNvPr>
          <p:cNvCxnSpPr/>
          <p:nvPr/>
        </p:nvCxnSpPr>
        <p:spPr>
          <a:xfrm flipV="1">
            <a:off x="5293868" y="3451403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A4CC6FAB-4D45-43EC-4291-5101B928B3F2}"/>
              </a:ext>
            </a:extLst>
          </p:cNvPr>
          <p:cNvCxnSpPr/>
          <p:nvPr/>
        </p:nvCxnSpPr>
        <p:spPr>
          <a:xfrm flipV="1">
            <a:off x="5293868" y="3755902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FF952FCA-FC69-67BD-506F-74DA978DFD92}"/>
              </a:ext>
            </a:extLst>
          </p:cNvPr>
          <p:cNvCxnSpPr/>
          <p:nvPr/>
        </p:nvCxnSpPr>
        <p:spPr>
          <a:xfrm flipV="1">
            <a:off x="5286804" y="4030568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124D7EB4-4C1E-0E72-9189-63C6D862942A}"/>
              </a:ext>
            </a:extLst>
          </p:cNvPr>
          <p:cNvCxnSpPr/>
          <p:nvPr/>
        </p:nvCxnSpPr>
        <p:spPr>
          <a:xfrm flipV="1">
            <a:off x="5293867" y="4341958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38D5105-4CAD-88AC-46F1-45282918D7F2}"/>
              </a:ext>
            </a:extLst>
          </p:cNvPr>
          <p:cNvCxnSpPr/>
          <p:nvPr/>
        </p:nvCxnSpPr>
        <p:spPr>
          <a:xfrm flipV="1">
            <a:off x="5293867" y="4621205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0BD4BB70-1365-877D-7827-D60E076C0D5E}"/>
              </a:ext>
            </a:extLst>
          </p:cNvPr>
          <p:cNvCxnSpPr/>
          <p:nvPr/>
        </p:nvCxnSpPr>
        <p:spPr>
          <a:xfrm flipV="1">
            <a:off x="5293866" y="4915586"/>
            <a:ext cx="2374735" cy="1394"/>
          </a:xfrm>
          <a:prstGeom prst="line">
            <a:avLst/>
          </a:prstGeom>
          <a:ln w="9525">
            <a:solidFill>
              <a:srgbClr val="578B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CC600AF-BE1E-C238-6D97-CDC31CF63730}"/>
              </a:ext>
            </a:extLst>
          </p:cNvPr>
          <p:cNvSpPr txBox="1"/>
          <p:nvPr/>
        </p:nvSpPr>
        <p:spPr>
          <a:xfrm>
            <a:off x="5349976" y="1364513"/>
            <a:ext cx="984387" cy="3616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300"/>
              </a:lnSpc>
            </a:pPr>
            <a:r>
              <a:rPr lang="ko-KR" altLang="en-US" sz="16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묵도기원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찬      송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성시교독신앙고백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찬      송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대표기도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말      씀  봉      헌</a:t>
            </a:r>
            <a:b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1600" b="1" dirty="0">
                <a:solidFill>
                  <a:srgbClr val="FF0000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성 찬 식</a:t>
            </a:r>
            <a:br>
              <a:rPr lang="en-US" altLang="ko-KR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교회소식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폐회찬송</a:t>
            </a:r>
            <a:endParaRPr lang="en-US" altLang="ko-KR" sz="16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>
              <a:lnSpc>
                <a:spcPts val="2300"/>
              </a:lnSpc>
            </a:pPr>
            <a:r>
              <a:rPr lang="ko-KR" altLang="en-US" sz="16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축      도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57187E-7F02-48D3-767F-DDAD664F44D5}"/>
              </a:ext>
            </a:extLst>
          </p:cNvPr>
          <p:cNvSpPr txBox="1"/>
          <p:nvPr/>
        </p:nvSpPr>
        <p:spPr>
          <a:xfrm>
            <a:off x="5081908" y="5108055"/>
            <a:ext cx="2753886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※ </a:t>
            </a:r>
            <a:r>
              <a:rPr lang="ko-KR" altLang="en-US" sz="1000" b="1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헌금위원</a:t>
            </a:r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- 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조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김태경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김정환 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 2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조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김정숙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정진영</a:t>
            </a:r>
            <a:b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                   3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조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</a:t>
            </a:r>
            <a:r>
              <a:rPr lang="en-US" altLang="ko-KR" sz="4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9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방계매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9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손명애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/ 4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조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손경아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김희애</a:t>
            </a:r>
          </a:p>
        </p:txBody>
      </p:sp>
      <p:sp>
        <p:nvSpPr>
          <p:cNvPr id="78" name="모서리가 둥근 직사각형 20">
            <a:extLst>
              <a:ext uri="{FF2B5EF4-FFF2-40B4-BE49-F238E27FC236}">
                <a16:creationId xmlns:a16="http://schemas.microsoft.com/office/drawing/2014/main" id="{D1A185CF-C94E-956D-E03C-95D6181A0F8D}"/>
              </a:ext>
            </a:extLst>
          </p:cNvPr>
          <p:cNvSpPr/>
          <p:nvPr/>
        </p:nvSpPr>
        <p:spPr>
          <a:xfrm>
            <a:off x="5171606" y="5558851"/>
            <a:ext cx="4614596" cy="45719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모서리가 둥근 직사각형 20">
            <a:extLst>
              <a:ext uri="{FF2B5EF4-FFF2-40B4-BE49-F238E27FC236}">
                <a16:creationId xmlns:a16="http://schemas.microsoft.com/office/drawing/2014/main" id="{F1495094-A31C-5FBD-E880-92DF9DD31B07}"/>
              </a:ext>
            </a:extLst>
          </p:cNvPr>
          <p:cNvSpPr/>
          <p:nvPr/>
        </p:nvSpPr>
        <p:spPr>
          <a:xfrm>
            <a:off x="5171605" y="102402"/>
            <a:ext cx="4607699" cy="45719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모서리가 둥근 직사각형 91">
            <a:extLst>
              <a:ext uri="{FF2B5EF4-FFF2-40B4-BE49-F238E27FC236}">
                <a16:creationId xmlns:a16="http://schemas.microsoft.com/office/drawing/2014/main" id="{BA4CF8B2-4D48-CF51-FC35-A3EAECCFB17C}"/>
              </a:ext>
            </a:extLst>
          </p:cNvPr>
          <p:cNvSpPr/>
          <p:nvPr/>
        </p:nvSpPr>
        <p:spPr>
          <a:xfrm>
            <a:off x="7884306" y="716783"/>
            <a:ext cx="1911816" cy="277563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D15A99FC-0745-EBED-DC23-B63571EEA456}"/>
              </a:ext>
            </a:extLst>
          </p:cNvPr>
          <p:cNvSpPr txBox="1"/>
          <p:nvPr/>
        </p:nvSpPr>
        <p:spPr>
          <a:xfrm>
            <a:off x="7908307" y="692260"/>
            <a:ext cx="1635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주일 오후 예배</a:t>
            </a:r>
          </a:p>
        </p:txBody>
      </p:sp>
      <p:sp>
        <p:nvSpPr>
          <p:cNvPr id="110" name="모서리가 둥근 직사각형 138">
            <a:extLst>
              <a:ext uri="{FF2B5EF4-FFF2-40B4-BE49-F238E27FC236}">
                <a16:creationId xmlns:a16="http://schemas.microsoft.com/office/drawing/2014/main" id="{D62A10A7-113D-2C17-82DA-771C2944A5F4}"/>
              </a:ext>
            </a:extLst>
          </p:cNvPr>
          <p:cNvSpPr/>
          <p:nvPr/>
        </p:nvSpPr>
        <p:spPr>
          <a:xfrm>
            <a:off x="7877012" y="1056340"/>
            <a:ext cx="1919110" cy="1035488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모서리가 둥근 직사각형 71">
            <a:extLst>
              <a:ext uri="{FF2B5EF4-FFF2-40B4-BE49-F238E27FC236}">
                <a16:creationId xmlns:a16="http://schemas.microsoft.com/office/drawing/2014/main" id="{C7CBC8AE-202C-57CF-C78E-F95DAC6F79B1}"/>
              </a:ext>
            </a:extLst>
          </p:cNvPr>
          <p:cNvSpPr/>
          <p:nvPr/>
        </p:nvSpPr>
        <p:spPr>
          <a:xfrm>
            <a:off x="7909145" y="3334825"/>
            <a:ext cx="1860683" cy="871179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모서리가 둥근 직사각형 73">
            <a:extLst>
              <a:ext uri="{FF2B5EF4-FFF2-40B4-BE49-F238E27FC236}">
                <a16:creationId xmlns:a16="http://schemas.microsoft.com/office/drawing/2014/main" id="{C3DB12D3-4253-A84D-8FFF-4903B39C15D7}"/>
              </a:ext>
            </a:extLst>
          </p:cNvPr>
          <p:cNvSpPr/>
          <p:nvPr/>
        </p:nvSpPr>
        <p:spPr>
          <a:xfrm>
            <a:off x="7929160" y="3039368"/>
            <a:ext cx="1844634" cy="255795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EAA598F0-4984-EBD1-6191-1D0ADD4CA1D5}"/>
              </a:ext>
            </a:extLst>
          </p:cNvPr>
          <p:cNvSpPr txBox="1"/>
          <p:nvPr/>
        </p:nvSpPr>
        <p:spPr>
          <a:xfrm>
            <a:off x="7983473" y="2988967"/>
            <a:ext cx="1269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우리의 일꾼</a:t>
            </a:r>
          </a:p>
        </p:txBody>
      </p:sp>
      <p:sp>
        <p:nvSpPr>
          <p:cNvPr id="123" name="모서리가 둥근 직사각형 79">
            <a:extLst>
              <a:ext uri="{FF2B5EF4-FFF2-40B4-BE49-F238E27FC236}">
                <a16:creationId xmlns:a16="http://schemas.microsoft.com/office/drawing/2014/main" id="{5915E31D-9ED6-6C1C-DCF5-59840C1E791E}"/>
              </a:ext>
            </a:extLst>
          </p:cNvPr>
          <p:cNvSpPr/>
          <p:nvPr/>
        </p:nvSpPr>
        <p:spPr>
          <a:xfrm>
            <a:off x="7911451" y="2444061"/>
            <a:ext cx="1860683" cy="541851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AE5D59D7-5275-9B99-322B-91F0900DBC69}"/>
              </a:ext>
            </a:extLst>
          </p:cNvPr>
          <p:cNvSpPr txBox="1"/>
          <p:nvPr/>
        </p:nvSpPr>
        <p:spPr>
          <a:xfrm>
            <a:off x="8045511" y="2420538"/>
            <a:ext cx="149745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새벽 기도회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오전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5:30</a:t>
            </a:r>
            <a:br>
              <a:rPr lang="en-US" altLang="ko-KR" sz="8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수요 기도회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저녁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7:30</a:t>
            </a:r>
            <a:b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토요 기도회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ko-KR" altLang="en-US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저녁 </a:t>
            </a:r>
            <a:r>
              <a:rPr lang="en-US" altLang="ko-KR" sz="11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7:00</a:t>
            </a:r>
          </a:p>
        </p:txBody>
      </p:sp>
      <p:sp>
        <p:nvSpPr>
          <p:cNvPr id="125" name="모서리가 둥근 직사각형 81">
            <a:extLst>
              <a:ext uri="{FF2B5EF4-FFF2-40B4-BE49-F238E27FC236}">
                <a16:creationId xmlns:a16="http://schemas.microsoft.com/office/drawing/2014/main" id="{86709E47-FDDE-0302-28B6-83F8A262A425}"/>
              </a:ext>
            </a:extLst>
          </p:cNvPr>
          <p:cNvSpPr/>
          <p:nvPr/>
        </p:nvSpPr>
        <p:spPr>
          <a:xfrm>
            <a:off x="7932377" y="2132971"/>
            <a:ext cx="1844634" cy="255795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9D5C005-B643-C5F3-88E9-F52FA1083BB4}"/>
              </a:ext>
            </a:extLst>
          </p:cNvPr>
          <p:cNvSpPr txBox="1"/>
          <p:nvPr/>
        </p:nvSpPr>
        <p:spPr>
          <a:xfrm>
            <a:off x="7845718" y="2092571"/>
            <a:ext cx="2006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주중 예배 안내 </a:t>
            </a:r>
            <a:r>
              <a:rPr lang="en-US" altLang="ko-KR" sz="1400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생명의삶</a:t>
            </a:r>
            <a:r>
              <a:rPr lang="ko-KR" altLang="en-US" sz="1400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 </a:t>
            </a:r>
            <a:r>
              <a:rPr lang="en-US" altLang="ko-KR" sz="1400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Q.T)</a:t>
            </a:r>
            <a:endParaRPr lang="ko-KR" altLang="en-US" sz="1400" dirty="0">
              <a:solidFill>
                <a:schemeClr val="bg1"/>
              </a:solidFill>
              <a:latin typeface="tvN 즐거운이야기 Bold" panose="02020603020101020101" pitchFamily="18" charset="-127"/>
              <a:ea typeface="tvN 즐거운이야기 Bold" panose="02020603020101020101" pitchFamily="18" charset="-12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6F3DE1-5E6D-C6A2-AE76-BF0D31EA5682}"/>
              </a:ext>
            </a:extLst>
          </p:cNvPr>
          <p:cNvSpPr txBox="1"/>
          <p:nvPr/>
        </p:nvSpPr>
        <p:spPr>
          <a:xfrm>
            <a:off x="7915004" y="3312708"/>
            <a:ext cx="186430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영어도서관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이상후 김태경 </a:t>
            </a:r>
            <a:r>
              <a:rPr lang="ko-KR" altLang="en-US" sz="700" dirty="0">
                <a:latin typeface="메이플스토리" panose="02000300000000000000" pitchFamily="2" charset="-127"/>
                <a:ea typeface="메이플스토리"/>
              </a:rPr>
              <a:t>교사</a:t>
            </a:r>
            <a:endParaRPr lang="en-US" altLang="ko-KR" sz="700" dirty="0">
              <a:latin typeface="메이플스토리" panose="02000300000000000000" pitchFamily="2" charset="-127"/>
              <a:ea typeface="메이플스토리"/>
            </a:endParaRPr>
          </a:p>
          <a:p>
            <a:r>
              <a:rPr lang="ko-KR" altLang="en-US" sz="9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주일학교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: 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김정숙 김정환 정진영</a:t>
            </a:r>
            <a:endParaRPr lang="en-US" altLang="ko-KR" sz="7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재정위원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/>
              </a:rPr>
              <a:t>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김성진 김정숙 정진영</a:t>
            </a:r>
            <a:b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900" b="1" dirty="0" err="1">
                <a:latin typeface="메이플스토리" panose="02000300000000000000" pitchFamily="2" charset="-127"/>
                <a:ea typeface="메이플스토리"/>
              </a:rPr>
              <a:t>애찬위원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정진영  </a:t>
            </a:r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교육위원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김정숙</a:t>
            </a:r>
            <a:b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</a:br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전도위원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김태경  </a:t>
            </a:r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차량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김성진</a:t>
            </a:r>
            <a:b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ko-KR" altLang="en-US" sz="900" b="1" dirty="0">
                <a:latin typeface="메이플스토리" panose="02000300000000000000" pitchFamily="2" charset="-127"/>
                <a:ea typeface="메이플스토리"/>
              </a:rPr>
              <a:t>반주</a:t>
            </a:r>
            <a:r>
              <a:rPr lang="en-US" altLang="ko-KR" sz="900" b="1" dirty="0">
                <a:latin typeface="메이플스토리" panose="02000300000000000000" pitchFamily="2" charset="-127"/>
                <a:ea typeface="메이플스토리"/>
              </a:rPr>
              <a:t>: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/>
              </a:rPr>
              <a:t>김예지</a:t>
            </a:r>
            <a:endParaRPr lang="en-US" altLang="ko-KR" sz="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130" name="모서리가 둥근 직사각형 79">
            <a:extLst>
              <a:ext uri="{FF2B5EF4-FFF2-40B4-BE49-F238E27FC236}">
                <a16:creationId xmlns:a16="http://schemas.microsoft.com/office/drawing/2014/main" id="{E0C56408-DBA0-7E1E-A7FA-67517E74F993}"/>
              </a:ext>
            </a:extLst>
          </p:cNvPr>
          <p:cNvSpPr/>
          <p:nvPr/>
        </p:nvSpPr>
        <p:spPr>
          <a:xfrm>
            <a:off x="7919227" y="4539652"/>
            <a:ext cx="1892130" cy="558837"/>
          </a:xfrm>
          <a:prstGeom prst="roundRect">
            <a:avLst/>
          </a:prstGeom>
          <a:solidFill>
            <a:srgbClr val="D2E7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모서리가 둥근 직사각형 81">
            <a:extLst>
              <a:ext uri="{FF2B5EF4-FFF2-40B4-BE49-F238E27FC236}">
                <a16:creationId xmlns:a16="http://schemas.microsoft.com/office/drawing/2014/main" id="{D9B4AAF2-75B0-22D9-696F-A0FFD57E323E}"/>
              </a:ext>
            </a:extLst>
          </p:cNvPr>
          <p:cNvSpPr/>
          <p:nvPr/>
        </p:nvSpPr>
        <p:spPr>
          <a:xfrm>
            <a:off x="7925194" y="4247147"/>
            <a:ext cx="1844634" cy="255795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AF9C5CC1-A35A-535E-2E1A-FB3CB50C5D9E}"/>
              </a:ext>
            </a:extLst>
          </p:cNvPr>
          <p:cNvSpPr txBox="1"/>
          <p:nvPr/>
        </p:nvSpPr>
        <p:spPr>
          <a:xfrm>
            <a:off x="7998269" y="4196931"/>
            <a:ext cx="2070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교회 비전 </a:t>
            </a:r>
            <a:r>
              <a:rPr lang="en-US" altLang="ko-KR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– </a:t>
            </a:r>
            <a:r>
              <a:rPr lang="ko-KR" altLang="en-US" dirty="0">
                <a:solidFill>
                  <a:schemeClr val="bg1"/>
                </a:solidFill>
                <a:latin typeface="tvN 즐거운이야기 Bold" panose="02020603020101020101" pitchFamily="18" charset="-127"/>
                <a:ea typeface="tvN 즐거운이야기 Bold" panose="02020603020101020101" pitchFamily="18" charset="-127"/>
              </a:rPr>
              <a:t>제자 양육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71C8FC-CF48-AFA0-DFE6-0F7E7EFD385C}"/>
              </a:ext>
            </a:extLst>
          </p:cNvPr>
          <p:cNvSpPr txBox="1"/>
          <p:nvPr/>
        </p:nvSpPr>
        <p:spPr>
          <a:xfrm>
            <a:off x="7772797" y="5139632"/>
            <a:ext cx="22021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※ </a:t>
            </a:r>
            <a:r>
              <a:rPr lang="ko-KR" altLang="en-US" sz="10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기도순서 </a:t>
            </a:r>
            <a:r>
              <a:rPr lang="en-US" altLang="ko-KR" sz="10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–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김성진  사공영광</a:t>
            </a: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김태경 </a:t>
            </a:r>
            <a:b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   </a:t>
            </a:r>
            <a:r>
              <a:rPr lang="ko-KR" altLang="en-US" sz="9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이미자 정진영 김정숙 </a:t>
            </a:r>
            <a:r>
              <a:rPr lang="ko-KR" altLang="en-US" sz="90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방계매</a:t>
            </a:r>
            <a:endParaRPr lang="ko-KR" altLang="en-US" sz="9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18B942-D27C-8BFF-47D8-8163C22E3F0C}"/>
              </a:ext>
            </a:extLst>
          </p:cNvPr>
          <p:cNvSpPr txBox="1"/>
          <p:nvPr/>
        </p:nvSpPr>
        <p:spPr>
          <a:xfrm>
            <a:off x="7824949" y="4594297"/>
            <a:ext cx="2149970" cy="484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1. </a:t>
            </a:r>
            <a:r>
              <a:rPr lang="ko-KR" altLang="en-US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예수님을 바로 알고 믿도록 합니다</a:t>
            </a:r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 </a:t>
            </a:r>
            <a:b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2. </a:t>
            </a:r>
            <a:r>
              <a:rPr lang="ko-KR" altLang="en-US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말씀으로 </a:t>
            </a:r>
            <a:r>
              <a:rPr lang="ko-KR" altLang="en-US" sz="85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성도간에</a:t>
            </a:r>
            <a:r>
              <a:rPr lang="ko-KR" altLang="en-US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 영적 교제를 나눕니다</a:t>
            </a:r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  <a:p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3. </a:t>
            </a:r>
            <a:r>
              <a:rPr lang="ko-KR" altLang="en-US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주님의 명령에 응답하여 제자로 순종합니다</a:t>
            </a:r>
            <a:r>
              <a:rPr lang="en-US" altLang="ko-KR" sz="85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A202D-8059-8990-7C19-65FF49080534}"/>
              </a:ext>
            </a:extLst>
          </p:cNvPr>
          <p:cNvSpPr txBox="1"/>
          <p:nvPr/>
        </p:nvSpPr>
        <p:spPr>
          <a:xfrm>
            <a:off x="7942241" y="1091112"/>
            <a:ext cx="1868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 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찬양</a:t>
            </a:r>
            <a:endParaRPr lang="en-US" altLang="ko-KR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algn="ctr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 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말씀</a:t>
            </a:r>
            <a:endParaRPr lang="en-US" altLang="ko-KR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pPr algn="ctr"/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“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하이델베르크 요리문답</a:t>
            </a:r>
            <a:b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</a:b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3,4,5</a:t>
            </a:r>
            <a:r>
              <a:rPr lang="ko-KR" altLang="en-US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문</a:t>
            </a:r>
            <a:r>
              <a:rPr lang="en-US" altLang="ko-KR" sz="12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”</a:t>
            </a:r>
          </a:p>
          <a:p>
            <a:pPr algn="ctr"/>
            <a:r>
              <a:rPr lang="en-US" altLang="ko-KR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* </a:t>
            </a:r>
            <a:r>
              <a:rPr lang="ko-KR" altLang="en-US" sz="1200" b="1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주기도문</a:t>
            </a:r>
            <a:endParaRPr lang="en-US" altLang="ko-KR" sz="1200" b="1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ED418C-C0C9-50CE-8E5E-C679D3A469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9183" y="5762135"/>
            <a:ext cx="790645" cy="79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747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519186C6-CC5F-E811-B425-A0BE6A08F7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8020752"/>
              </p:ext>
            </p:extLst>
          </p:nvPr>
        </p:nvGraphicFramePr>
        <p:xfrm>
          <a:off x="152513" y="456152"/>
          <a:ext cx="9534728" cy="625049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39830">
                  <a:extLst>
                    <a:ext uri="{9D8B030D-6E8A-4147-A177-3AD203B41FA5}">
                      <a16:colId xmlns:a16="http://schemas.microsoft.com/office/drawing/2014/main" val="1411217185"/>
                    </a:ext>
                  </a:extLst>
                </a:gridCol>
                <a:gridCol w="4794898">
                  <a:extLst>
                    <a:ext uri="{9D8B030D-6E8A-4147-A177-3AD203B41FA5}">
                      <a16:colId xmlns:a16="http://schemas.microsoft.com/office/drawing/2014/main" val="2511095910"/>
                    </a:ext>
                  </a:extLst>
                </a:gridCol>
              </a:tblGrid>
              <a:tr h="312524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rgbClr val="D2E7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rgbClr val="D2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604098"/>
                  </a:ext>
                </a:extLst>
              </a:tr>
              <a:tr h="3125248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rgbClr val="D2E7E2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highlight>
                          <a:srgbClr val="000000"/>
                        </a:highlight>
                      </a:endParaRPr>
                    </a:p>
                  </a:txBody>
                  <a:tcPr>
                    <a:solidFill>
                      <a:srgbClr val="D2E7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9987154"/>
                  </a:ext>
                </a:extLst>
              </a:tr>
            </a:tbl>
          </a:graphicData>
        </a:graphic>
      </p:graphicFrame>
      <p:sp>
        <p:nvSpPr>
          <p:cNvPr id="60" name="모서리가 둥근 직사각형 20">
            <a:extLst>
              <a:ext uri="{FF2B5EF4-FFF2-40B4-BE49-F238E27FC236}">
                <a16:creationId xmlns:a16="http://schemas.microsoft.com/office/drawing/2014/main" id="{EF5FB550-C3D8-5DCE-8EB4-202935013C39}"/>
              </a:ext>
            </a:extLst>
          </p:cNvPr>
          <p:cNvSpPr/>
          <p:nvPr/>
        </p:nvSpPr>
        <p:spPr>
          <a:xfrm>
            <a:off x="201565" y="92786"/>
            <a:ext cx="2745068" cy="277563"/>
          </a:xfrm>
          <a:prstGeom prst="roundRect">
            <a:avLst/>
          </a:prstGeom>
          <a:solidFill>
            <a:srgbClr val="65B7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5AF152B-B785-9DDA-6344-DDA6B53E71DD}"/>
              </a:ext>
            </a:extLst>
          </p:cNvPr>
          <p:cNvSpPr txBox="1"/>
          <p:nvPr/>
        </p:nvSpPr>
        <p:spPr>
          <a:xfrm>
            <a:off x="201564" y="36178"/>
            <a:ext cx="294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1훈정글북 R" panose="02020603020101020101" pitchFamily="18" charset="-127"/>
                <a:ea typeface="1훈정글북 R" panose="02020603020101020101" pitchFamily="18" charset="-127"/>
              </a:rPr>
              <a:t>주일 말씀 메모</a:t>
            </a:r>
          </a:p>
        </p:txBody>
      </p:sp>
      <p:sp>
        <p:nvSpPr>
          <p:cNvPr id="10" name="AutoShape 2" descr="Jean-henri fabre">
            <a:extLst>
              <a:ext uri="{FF2B5EF4-FFF2-40B4-BE49-F238E27FC236}">
                <a16:creationId xmlns:a16="http://schemas.microsoft.com/office/drawing/2014/main" id="{05E2289E-E5F6-E29E-1B15-25C034A019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2E71D-FFE6-EA52-A66E-8B3FFCDF87C9}"/>
              </a:ext>
            </a:extLst>
          </p:cNvPr>
          <p:cNvSpPr txBox="1"/>
          <p:nvPr/>
        </p:nvSpPr>
        <p:spPr>
          <a:xfrm>
            <a:off x="129907" y="462118"/>
            <a:ext cx="4823093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서론</a:t>
            </a:r>
            <a:b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사람은 다른 사람에게는 하나님의 용서를 말하면서도 정작 자신의 반복되는 죄와 실패 앞에서는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“나는 이제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끝났다”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판결하기 쉽습니다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「샘물과 같은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보혈은」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을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지은 윌리엄 쿠퍼 역시 죄 씻음의 은혜를 아름답게 노래했지만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 은혜가 자신에게만은 닫혀 있다고 여기며 괴로워했습니다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바벨론에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포로로 끌려간 이스라엘도 예루살렘의 멸망을 듣고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“우리의 허물과 죄가 우리를 쇠퇴하게 하니 어찌 능히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살리요”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탄식했습니다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에스겔 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33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장은 바로 이렇게 스스로 희망의 문을 닫아버린 사람들에게 주시는 하나님의 대답입니다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</a:t>
            </a:r>
          </a:p>
          <a:p>
            <a:endParaRPr lang="en-US" altLang="ko-KR" sz="1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본론</a:t>
            </a:r>
            <a:b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endParaRPr lang="ko-KR" altLang="en-US" sz="1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1.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우리의 절망을 들으십니다</a:t>
            </a: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이스라엘은 자신들의 죄와 하나님의 심판을 정확히 인정했습니다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그러나 그 뒤에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“그러므로 우리는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끝났다”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는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결론을 스스로 덧붙였습니다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그것은 하나님께서 내리신 판결이 아니었습니다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그들은 살아 있으면서도 자신들이 이미 썩어가는 시체처럼 느껴졌고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마음속으로 장례를 치르고 있었습니다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그러나 하나님은 그들의 절망을 무시하지 않으셨습니다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너희가 말하여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이르되”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그들의 탄식을 그대로 인용하셨습니다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우리가 입 밖으로 내지 못하고 혼자 삼키는 절망의 독백까지 들으시는 분입니다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</a:t>
            </a: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endParaRPr lang="en-US" altLang="ko-KR" sz="1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2.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생명을 걸고 살라고 부르십니다</a:t>
            </a: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절망하는 백성에게 훈계보다 먼저 맹세로 대답하셨습니다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나의 삶을 두고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맹세하노니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나는 악인이 죽는 것을 기뻐하지 아니하고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그가 돌이켜 사는 것을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기뻐하노라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.”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백성이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“어찌 능히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살리요”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라고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말하자 하나님은 자신의 생명을 걸고 그들을 살리겠다고 선언하셨습니다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그리고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“돌이키고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돌이키라”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거듭 부르셨습니다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회개는 단순히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미안해하는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감정이 아니라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빼앗은 것을 돌려주고 삶의 방향을 실제로 바꾸는 것입니다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돌이키는 자의 과거를 붙들고 정죄하지 않으시며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“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그가 범한 모든 죄가 기억되지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아니하리라”고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약속하십니다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4E565B-92B8-084B-4E87-13916FF6569D}"/>
              </a:ext>
            </a:extLst>
          </p:cNvPr>
          <p:cNvSpPr txBox="1"/>
          <p:nvPr/>
        </p:nvSpPr>
        <p:spPr>
          <a:xfrm>
            <a:off x="4907711" y="462118"/>
            <a:ext cx="482309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3.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하나님의 맹세는 십자가에서 이루어졌습니다</a:t>
            </a:r>
            <a:endParaRPr lang="en-US" altLang="ko-KR" sz="1400" b="1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죄를 가볍게 여기지 않으십니다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각기 행한 대로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심판하리라”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는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공의의 저울은 결코 치워지지 않았습니다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그러나 예수님께서 그 저울에 달려야 할 죄인의 자리에 대신 서셨습니다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삭개오는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예수님을 만난 뒤 빼앗은 것을 갚았고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세 번 주님을 부인한 베드로는 세 번 사랑을 고백하도록 회복되었습니다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아무것도 갚을 수 없었던 십자가의 강도에게도 예수님은 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“오늘 네가 나와 함께 낙원에 있으리라”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고 선언하셨습니다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우리의 죄가 기억되지 않는 것은 죄가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가벼워서가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아니라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 죄의 무게가 예수 그리스도께 옮겨졌기 때문입니다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에스겔에게 자신의 생명을 걸고 맹세하셨던 하나님께서 십자가에서 실제로 자기 생명을 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내어주신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것입니다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</a:t>
            </a:r>
          </a:p>
          <a:p>
            <a:endParaRPr lang="en-US" altLang="ko-KR" sz="1400" dirty="0">
              <a:latin typeface="배달의민족 연성" panose="020B0600000101010101" pitchFamily="50" charset="-127"/>
              <a:ea typeface="배달의민족 연성" panose="020B0600000101010101" pitchFamily="50" charset="-127"/>
            </a:endParaRPr>
          </a:p>
          <a:p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결론 및 적용</a:t>
            </a: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b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</a:b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우리는 과거의 신앙 경력을 의지해서도 안 되고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과거의 실패를 근거로 자신을 포기해서도 안 됩니다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오래 믿고 봉사한 경력은 오늘의 불순종을 덮어주는 자격이 아니며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en-US" altLang="ko-KR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“</a:t>
            </a:r>
            <a:r>
              <a:rPr lang="ko-KR" altLang="en-US" sz="1400" b="1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나는 </a:t>
            </a:r>
            <a:r>
              <a:rPr lang="ko-KR" altLang="en-US" sz="1400" b="1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끝났다”</a:t>
            </a:r>
            <a:r>
              <a:rPr lang="ko-KR" altLang="en-US" sz="1400" dirty="0" err="1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는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 자기 판결도 하나님께서 쓰신 판결문이 아닙니다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반복해서 넘어졌더라도 다시 주님께 돌아가십시오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잘못한 것이 있다면 책임 있게 바로잡고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스스로를 정죄하는 대신 십자가를 바라보십시오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하나님은 우리가 죽는 것을 기뻐하지 않으시며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우리가 돌이켜 다시 사는 것을 기뻐하십니다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그러므로 자신의 절망보다 하나님의 맹세를 더 믿고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, </a:t>
            </a:r>
            <a:r>
              <a:rPr lang="ko-KR" altLang="en-US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오늘 다시 돌이켜 일어서십시오</a:t>
            </a:r>
            <a:r>
              <a:rPr lang="en-US" altLang="ko-KR" sz="1400" dirty="0">
                <a:latin typeface="배달의민족 연성" panose="020B0600000101010101" pitchFamily="50" charset="-127"/>
                <a:ea typeface="배달의민족 연성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440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31579</TotalTime>
  <Words>1084</Words>
  <Application>Microsoft Office PowerPoint</Application>
  <PresentationFormat>A4 용지(210x297mm)</PresentationFormat>
  <Paragraphs>82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6" baseType="lpstr">
      <vt:lpstr>1훈정글북 R</vt:lpstr>
      <vt:lpstr>tvN 즐거운이야기 Bold</vt:lpstr>
      <vt:lpstr>맑은 고딕</vt:lpstr>
      <vt:lpstr>메이플스토리</vt:lpstr>
      <vt:lpstr>메이플스토리 OTF</vt:lpstr>
      <vt:lpstr>뫼비우스 Regular</vt:lpstr>
      <vt:lpstr>배달의민족 연성</vt:lpstr>
      <vt:lpstr>서울남산 장체B</vt:lpstr>
      <vt:lpstr>옥션고딕 M</vt:lpstr>
      <vt:lpstr>인터파크고딕 L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 LEE</dc:creator>
  <cp:lastModifiedBy>이상후</cp:lastModifiedBy>
  <cp:revision>809</cp:revision>
  <cp:lastPrinted>2026-08-01T05:22:24Z</cp:lastPrinted>
  <dcterms:created xsi:type="dcterms:W3CDTF">2021-11-26T20:19:54Z</dcterms:created>
  <dcterms:modified xsi:type="dcterms:W3CDTF">2026-08-01T05:22:57Z</dcterms:modified>
</cp:coreProperties>
</file>